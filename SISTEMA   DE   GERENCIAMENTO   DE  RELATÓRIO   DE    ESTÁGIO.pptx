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577BA3-56FC-4AFB-8C69-A51B93FE112E}" v="8" dt="2026-04-17T02:58:26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F1041-AA40-4479-8697-1DF5C5716B7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3B1CE-0433-4795-B180-0A34B190A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7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3B1CE-0433-4795-B180-0A34B190AF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1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6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9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9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0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8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0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6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2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6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0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74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4022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13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58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85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4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0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1D5F4BF-4422-49AE-9D53-86B548204A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E169BD2-8F65-4725-8FF9-177ADB5D7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1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9E09-21BB-F6CE-0B1A-5BE299800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013" y="2057400"/>
            <a:ext cx="10663910" cy="2743200"/>
          </a:xfrm>
        </p:spPr>
        <p:txBody>
          <a:bodyPr>
            <a:normAutofit/>
          </a:bodyPr>
          <a:lstStyle/>
          <a:p>
            <a:r>
              <a:rPr lang="en-US" sz="3600" dirty="0"/>
              <a:t>SISTEMA   DE   GERENCIAMENTO   DE  RELATÓRIO   DE    ESTÁGIO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0D6D1-BD46-EF29-80D8-152329226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4113" y="2662237"/>
            <a:ext cx="3013710" cy="466725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Projeto Back-End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69701-1598-7DBC-82FF-F59A0E689F2A}"/>
              </a:ext>
            </a:extLst>
          </p:cNvPr>
          <p:cNvSpPr txBox="1"/>
          <p:nvPr/>
        </p:nvSpPr>
        <p:spPr>
          <a:xfrm>
            <a:off x="1610955" y="6364132"/>
            <a:ext cx="9220025" cy="770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pt-BR" sz="1200" cap="all" spc="200" dirty="0">
                <a:solidFill>
                  <a:schemeClr val="tx2"/>
                </a:solidFill>
                <a:latin typeface="+mj-lt"/>
              </a:rPr>
              <a:t>Grupo: João Paulo Dopcke, Daniel Studart, Davi Jacob, Felipe Ultramar e Gustavo rEZEDE</a:t>
            </a:r>
          </a:p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US" sz="2400" cap="all" spc="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680159C-AC53-8342-A0A8-592E83DBB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2920" y="6725434"/>
            <a:ext cx="424212" cy="13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70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F9FB0-6673-4105-4781-16D7CB42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5" y="294995"/>
            <a:ext cx="7787148" cy="766889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r>
              <a:rPr lang="en-US" dirty="0"/>
              <a:t>5w2h – 1.0 - </a:t>
            </a:r>
            <a:r>
              <a:rPr lang="en-US" sz="4000" dirty="0" err="1"/>
              <a:t>Visão</a:t>
            </a:r>
            <a:r>
              <a:rPr lang="en-US" sz="4000" dirty="0"/>
              <a:t> Geral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B80E19-FCBA-B623-03FA-C958635761F1}"/>
              </a:ext>
            </a:extLst>
          </p:cNvPr>
          <p:cNvSpPr txBox="1">
            <a:spLocks/>
          </p:cNvSpPr>
          <p:nvPr/>
        </p:nvSpPr>
        <p:spPr>
          <a:xfrm>
            <a:off x="452285" y="1219228"/>
            <a:ext cx="10776154" cy="58990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600" b="1" dirty="0"/>
              <a:t>O 5W2H é uma ferramenta de gestão estratégica amplamente utilizada no planejamento e na execução de planos de ação, estruturado em sete perguntas fundamentais:</a:t>
            </a:r>
          </a:p>
          <a:p>
            <a:endParaRPr lang="pt-BR" sz="1600" b="1" dirty="0"/>
          </a:p>
          <a:p>
            <a:endParaRPr lang="pt-BR" sz="16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0AD01E-664F-90DE-A4BA-98800CE77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596602"/>
              </p:ext>
            </p:extLst>
          </p:nvPr>
        </p:nvGraphicFramePr>
        <p:xfrm>
          <a:off x="963561" y="1809135"/>
          <a:ext cx="9678618" cy="4154026"/>
        </p:xfrm>
        <a:graphic>
          <a:graphicData uri="http://schemas.openxmlformats.org/drawingml/2006/table">
            <a:tbl>
              <a:tblPr/>
              <a:tblGrid>
                <a:gridCol w="4872631">
                  <a:extLst>
                    <a:ext uri="{9D8B030D-6E8A-4147-A177-3AD203B41FA5}">
                      <a16:colId xmlns:a16="http://schemas.microsoft.com/office/drawing/2014/main" val="2813202398"/>
                    </a:ext>
                  </a:extLst>
                </a:gridCol>
                <a:gridCol w="4805987">
                  <a:extLst>
                    <a:ext uri="{9D8B030D-6E8A-4147-A177-3AD203B41FA5}">
                      <a16:colId xmlns:a16="http://schemas.microsoft.com/office/drawing/2014/main" val="2685891282"/>
                    </a:ext>
                  </a:extLst>
                </a:gridCol>
              </a:tblGrid>
              <a:tr h="800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What (O </a:t>
                      </a:r>
                      <a:r>
                        <a:rPr lang="en-US" sz="1600" b="1" dirty="0" err="1"/>
                        <a:t>quê</a:t>
                      </a:r>
                      <a:r>
                        <a:rPr lang="en-US" sz="1600" b="1" dirty="0"/>
                        <a:t>?)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Desenvolvimento de uma API Backend para gestão e validação automática de propostas de estágio, com regras customizáveis por curso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70866"/>
                  </a:ext>
                </a:extLst>
              </a:tr>
              <a:tr h="714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Why (Por </a:t>
                      </a:r>
                      <a:r>
                        <a:rPr lang="en-US" sz="1600" b="1" dirty="0" err="1"/>
                        <a:t>quê</a:t>
                      </a:r>
                      <a:r>
                        <a:rPr lang="en-US" sz="1600" b="1" dirty="0"/>
                        <a:t>?)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/>
                        <a:t>Automatizar a conformidade com a Lei 11.788/08, reduzir carga operacional e acelerar a avaliação das propostas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345049"/>
                  </a:ext>
                </a:extLst>
              </a:tr>
              <a:tr h="714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Where (Onde?)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GitHub Codespaces (desenvolvimento) e documentação via MkDocs no GitHub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855443"/>
                  </a:ext>
                </a:extLst>
              </a:tr>
              <a:tr h="50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When (Quando?)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Primeiro semestre de 2026, com iterações incrementais baseadas em UP/RUP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501956"/>
                  </a:ext>
                </a:extLst>
              </a:tr>
              <a:tr h="50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Who (Quem?)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Equipe de alunos da disciplina Projeto Back-end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504565"/>
                  </a:ext>
                </a:extLst>
              </a:tr>
              <a:tr h="714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How (Como?)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Python + Django para lógica de negócio, versionamento com Git e documentação em MkDocs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20409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B68D38E-751D-EEBB-8473-F2DB898F0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65177"/>
              </p:ext>
            </p:extLst>
          </p:nvPr>
        </p:nvGraphicFramePr>
        <p:xfrm>
          <a:off x="963561" y="5958142"/>
          <a:ext cx="9678618" cy="822960"/>
        </p:xfrm>
        <a:graphic>
          <a:graphicData uri="http://schemas.openxmlformats.org/drawingml/2006/table">
            <a:tbl>
              <a:tblPr/>
              <a:tblGrid>
                <a:gridCol w="4872631">
                  <a:extLst>
                    <a:ext uri="{9D8B030D-6E8A-4147-A177-3AD203B41FA5}">
                      <a16:colId xmlns:a16="http://schemas.microsoft.com/office/drawing/2014/main" val="270913463"/>
                    </a:ext>
                  </a:extLst>
                </a:gridCol>
                <a:gridCol w="4805987">
                  <a:extLst>
                    <a:ext uri="{9D8B030D-6E8A-4147-A177-3AD203B41FA5}">
                      <a16:colId xmlns:a16="http://schemas.microsoft.com/office/drawing/2014/main" val="1268332948"/>
                    </a:ext>
                  </a:extLst>
                </a:gridCol>
              </a:tblGrid>
              <a:tr h="7144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much? (Quanto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custará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?)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Aproximadamente 20h semanais de esforço coletivo da equipe, com custo financeiro zero em virtude da adoção exclusiva de tecnologias de código aberto.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34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67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F14E-CDF9-69AA-94F2-81D1B732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C322-4E57-29E2-FC09-A957D7D9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5" y="294995"/>
            <a:ext cx="7787148" cy="766889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r>
              <a:rPr lang="en-US" dirty="0"/>
              <a:t>5w2h – 2.0 - </a:t>
            </a:r>
            <a:r>
              <a:rPr lang="en-US" sz="4000" dirty="0" err="1"/>
              <a:t>Visão</a:t>
            </a:r>
            <a:r>
              <a:rPr lang="en-US" sz="4000" dirty="0"/>
              <a:t> </a:t>
            </a:r>
            <a:r>
              <a:rPr lang="en-US" sz="4000" dirty="0" err="1"/>
              <a:t>Produto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93F4D7-FD7A-AF9B-9179-E8098102C810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pt-BR" sz="1600" b="1" dirty="0"/>
          </a:p>
          <a:p>
            <a:endParaRPr lang="pt-BR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2FF722-F0E2-4643-CF42-DAC3AEF6E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632748"/>
              </p:ext>
            </p:extLst>
          </p:nvPr>
        </p:nvGraphicFramePr>
        <p:xfrm>
          <a:off x="1158082" y="1799303"/>
          <a:ext cx="9364560" cy="4329742"/>
        </p:xfrm>
        <a:graphic>
          <a:graphicData uri="http://schemas.openxmlformats.org/drawingml/2006/table">
            <a:tbl>
              <a:tblPr/>
              <a:tblGrid>
                <a:gridCol w="4682280">
                  <a:extLst>
                    <a:ext uri="{9D8B030D-6E8A-4147-A177-3AD203B41FA5}">
                      <a16:colId xmlns:a16="http://schemas.microsoft.com/office/drawing/2014/main" val="2813202398"/>
                    </a:ext>
                  </a:extLst>
                </a:gridCol>
                <a:gridCol w="4682280">
                  <a:extLst>
                    <a:ext uri="{9D8B030D-6E8A-4147-A177-3AD203B41FA5}">
                      <a16:colId xmlns:a16="http://schemas.microsoft.com/office/drawing/2014/main" val="2685891282"/>
                    </a:ext>
                  </a:extLst>
                </a:gridCol>
              </a:tblGrid>
              <a:tr h="462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What (O quê?)</a:t>
                      </a:r>
                      <a:endParaRPr lang="en-US" sz="160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API RESTful que recebe contratos de estágio e valida automaticamente conforme a Lei 11.788/08 e diretrizes do Ibmec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680417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Why (Por </a:t>
                      </a:r>
                      <a:r>
                        <a:rPr lang="en-US" sz="1600" b="1" dirty="0" err="1"/>
                        <a:t>quê</a:t>
                      </a:r>
                      <a:r>
                        <a:rPr lang="en-US" sz="1600" b="1" dirty="0"/>
                        <a:t>?)</a:t>
                      </a:r>
                      <a:endParaRPr lang="en-US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/>
                        <a:t>Reduzir carga operacional, agilizar aprovações e minimizar erros humanos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70866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Where (Onde?)</a:t>
                      </a:r>
                      <a:endParaRPr lang="en-US" sz="160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/>
                        <a:t>GitHub (desenvolvimento), MkDocs (documentação) e ambiente em nuvem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345049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When (Quando?)</a:t>
                      </a:r>
                      <a:endParaRPr lang="en-US" sz="160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Em tempo real, no momento da submissão pelo aluno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855443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Who (Quem?)</a:t>
                      </a:r>
                      <a:endParaRPr lang="en-US" sz="160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/>
                        <a:t>Sistema Ibmec (direto), alunos e coordenadores (indireto)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501956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How (Como?)</a:t>
                      </a:r>
                      <a:endParaRPr lang="en-US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/>
                        <a:t>API com endpoints JSON, motor de regras e retorno com status + pendências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504565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How much (Quanto?)</a:t>
                      </a:r>
                      <a:endParaRPr lang="en-US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Custo atual zero; possíveis custos com nuvem e manutenção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204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83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7D5C-7479-8549-59A5-C9C9CB68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501A-08DA-7F1F-5E2D-807B1268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5" y="294995"/>
            <a:ext cx="7787148" cy="766889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r>
              <a:rPr lang="en-US" dirty="0"/>
              <a:t>Brainstorming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024737-2ABD-288C-8411-CD5E66DB7A76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pt-BR" sz="1600" b="1"/>
          </a:p>
          <a:p>
            <a:endParaRPr lang="pt-B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B0641-7AC2-D963-6032-E5416A2BABDC}"/>
              </a:ext>
            </a:extLst>
          </p:cNvPr>
          <p:cNvSpPr txBox="1"/>
          <p:nvPr/>
        </p:nvSpPr>
        <p:spPr>
          <a:xfrm>
            <a:off x="452285" y="1227358"/>
            <a:ext cx="109236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Definição de uma API backend para validação automática de propostas de estágio</a:t>
            </a:r>
          </a:p>
          <a:p>
            <a:pPr>
              <a:buFont typeface="Arial" panose="020B0604020202020204" pitchFamily="34" charset="0"/>
              <a:buChar char="•"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Foco na conformidade com a Lei 11.788/08 (carga horária e duração) </a:t>
            </a:r>
          </a:p>
          <a:p>
            <a:pPr>
              <a:buFont typeface="Arial" panose="020B0604020202020204" pitchFamily="34" charset="0"/>
              <a:buChar char="•"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Criação de um motor de regras centralizado, que será responsável por: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Aprovar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Reprovar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Encaminhar para revisão humana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Integração via JSON autenticadas por token, para garantir mais segurança</a:t>
            </a:r>
          </a:p>
          <a:p>
            <a:pPr>
              <a:buFont typeface="Arial" panose="020B0604020202020204" pitchFamily="34" charset="0"/>
              <a:buChar char="•"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Retorno ao cliente com: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Status claro (Aprovado, Reprovado, Pendente)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Justificativas detalhadas das inconsistências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Armazenamento de dados para histórico</a:t>
            </a:r>
          </a:p>
          <a:p>
            <a:pPr>
              <a:buFont typeface="Arial" panose="020B0604020202020204" pitchFamily="34" charset="0"/>
              <a:buChar char="•"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Possibilidade de evolução com: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Assinatura digital </a:t>
            </a:r>
          </a:p>
        </p:txBody>
      </p:sp>
    </p:spTree>
    <p:extLst>
      <p:ext uri="{BB962C8B-B14F-4D97-AF65-F5344CB8AC3E}">
        <p14:creationId xmlns:p14="http://schemas.microsoft.com/office/powerpoint/2010/main" val="81361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2B3A-47F6-50DA-012A-97AFD9BB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FA5C-451E-3CC4-75F6-A24D7E24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03" y="3054178"/>
            <a:ext cx="7787148" cy="766889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r>
              <a:rPr lang="pt-BR" dirty="0"/>
              <a:t>M</a:t>
            </a:r>
            <a:r>
              <a:rPr lang="en-US" dirty="0" err="1"/>
              <a:t>apa</a:t>
            </a:r>
            <a:r>
              <a:rPr lang="en-US" dirty="0"/>
              <a:t> Mental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77AC74-FF1E-AB35-EA34-413B0828F7E9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pt-BR" sz="1600" b="1"/>
          </a:p>
          <a:p>
            <a:endParaRPr lang="pt-BR" sz="1600" dirty="0"/>
          </a:p>
        </p:txBody>
      </p:sp>
      <p:pic>
        <p:nvPicPr>
          <p:cNvPr id="2050" name="Picture 2" descr="Mapa mental">
            <a:extLst>
              <a:ext uri="{FF2B5EF4-FFF2-40B4-BE49-F238E27FC236}">
                <a16:creationId xmlns:a16="http://schemas.microsoft.com/office/drawing/2014/main" id="{F7609759-0990-CBA0-52ED-FDE4D95AB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286" y="0"/>
            <a:ext cx="6787714" cy="687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570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3F56-DC6A-5D39-B0D2-A3FA2B6E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7F4BC-4FCA-5CF9-06F0-4C8B983284FA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pt-BR" sz="1600" b="1"/>
          </a:p>
          <a:p>
            <a:endParaRPr lang="pt-B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CCF90-5691-16CA-F9E8-082256FDF8B6}"/>
              </a:ext>
            </a:extLst>
          </p:cNvPr>
          <p:cNvSpPr txBox="1"/>
          <p:nvPr/>
        </p:nvSpPr>
        <p:spPr>
          <a:xfrm>
            <a:off x="582561" y="346322"/>
            <a:ext cx="3182166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900" dirty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Elaboração</a:t>
            </a:r>
            <a:endParaRPr lang="en-US" sz="4900" dirty="0">
              <a:gradFill flip="none" rotWithShape="1">
                <a:gsLst>
                  <a:gs pos="28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  <a:tileRect/>
              </a:gra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3FF62-D67C-E455-FC1E-9FBFB70E1B4C}"/>
              </a:ext>
            </a:extLst>
          </p:cNvPr>
          <p:cNvSpPr txBox="1"/>
          <p:nvPr/>
        </p:nvSpPr>
        <p:spPr>
          <a:xfrm>
            <a:off x="582561" y="1192708"/>
            <a:ext cx="110036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Objetivo: Refinar os requisitos, resolver os riscos críticos e definir a arquitetura base.</a:t>
            </a:r>
            <a:br>
              <a:rPr lang="pt-BR" sz="2000" dirty="0"/>
            </a:br>
            <a:r>
              <a:rPr lang="pt-BR" sz="2000" dirty="0"/>
              <a:t>Principais atividades: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F3D0A-A887-E7FF-6A00-0F9663EF65EF}"/>
              </a:ext>
            </a:extLst>
          </p:cNvPr>
          <p:cNvSpPr txBox="1"/>
          <p:nvPr/>
        </p:nvSpPr>
        <p:spPr>
          <a:xfrm>
            <a:off x="631195" y="2307596"/>
            <a:ext cx="107761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Detalhar os requisitos mais importantes.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Desenvolver uma arquitetura de software robusta.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Criar protótipos ou provas de conceito.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Planejar as próximas fases com mais precisão.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Produto principal: Arquitetura validada e plano de desenvolvimento para a fase de construção.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103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A3531-5784-130E-B337-54E1E91F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1005C9-36F1-7BD6-E1D0-82266B3D7B46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pt-BR" sz="1600" b="1"/>
          </a:p>
          <a:p>
            <a:pPr>
              <a:spcAft>
                <a:spcPts val="600"/>
              </a:spcAft>
            </a:pPr>
            <a:endParaRPr lang="pt-BR" sz="16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6A4D54-CB64-2FE1-4C97-EA383D246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179629"/>
              </p:ext>
            </p:extLst>
          </p:nvPr>
        </p:nvGraphicFramePr>
        <p:xfrm>
          <a:off x="777154" y="1656834"/>
          <a:ext cx="10126416" cy="4512963"/>
        </p:xfrm>
        <a:graphic>
          <a:graphicData uri="http://schemas.openxmlformats.org/drawingml/2006/table">
            <a:tbl>
              <a:tblPr/>
              <a:tblGrid>
                <a:gridCol w="1897130">
                  <a:extLst>
                    <a:ext uri="{9D8B030D-6E8A-4147-A177-3AD203B41FA5}">
                      <a16:colId xmlns:a16="http://schemas.microsoft.com/office/drawing/2014/main" val="1701688379"/>
                    </a:ext>
                  </a:extLst>
                </a:gridCol>
                <a:gridCol w="6274193">
                  <a:extLst>
                    <a:ext uri="{9D8B030D-6E8A-4147-A177-3AD203B41FA5}">
                      <a16:colId xmlns:a16="http://schemas.microsoft.com/office/drawing/2014/main" val="3976679974"/>
                    </a:ext>
                  </a:extLst>
                </a:gridCol>
                <a:gridCol w="1955093">
                  <a:extLst>
                    <a:ext uri="{9D8B030D-6E8A-4147-A177-3AD203B41FA5}">
                      <a16:colId xmlns:a16="http://schemas.microsoft.com/office/drawing/2014/main" val="3930540507"/>
                    </a:ext>
                  </a:extLst>
                </a:gridCol>
              </a:tblGrid>
              <a:tr h="644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RF01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109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A094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109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E09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0" i="0" u="none" strike="noStrike" dirty="0">
                          <a:effectLst/>
                          <a:latin typeface="Arial" panose="020B0604020202020204" pitchFamily="34" charset="0"/>
                        </a:rPr>
                        <a:t>Permitir ao estudante anexar documentos de estágio por meio do sistema.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A094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809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A094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109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Alta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809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809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8099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60A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032178"/>
                  </a:ext>
                </a:extLst>
              </a:tr>
              <a:tr h="644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RF02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E09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109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E09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30A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0" i="0" u="none" strike="noStrike" dirty="0">
                          <a:effectLst/>
                          <a:latin typeface="Arial" panose="020B0604020202020204" pitchFamily="34" charset="0"/>
                        </a:rPr>
                        <a:t>Verificar se todos os documentos obrigatórios foram enviados conforme o tipo de solicitação.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109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60A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109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Alta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60A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60A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60A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F08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348533"/>
                  </a:ext>
                </a:extLst>
              </a:tr>
              <a:tr h="644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 dirty="0">
                          <a:effectLst/>
                          <a:latin typeface="Arial" panose="020B0604020202020204" pitchFamily="34" charset="0"/>
                        </a:rPr>
                        <a:t>RF03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30A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30A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7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0" i="0" u="none" strike="noStrike">
                          <a:effectLst/>
                          <a:latin typeface="Arial" panose="020B0604020202020204" pitchFamily="34" charset="0"/>
                        </a:rPr>
                        <a:t>Disponibilizar uma visão geral das solicitações para a coordenação, com possibilidade de filtragem.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F08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Alta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F08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F08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F08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053284"/>
                  </a:ext>
                </a:extLst>
              </a:tr>
              <a:tr h="644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RF04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7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7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0" i="0" u="none" strike="noStrike" dirty="0">
                          <a:effectLst/>
                          <a:latin typeface="Arial" panose="020B0604020202020204" pitchFamily="34" charset="0"/>
                        </a:rPr>
                        <a:t>Permitir que a coordenação aprove, rejeite ou solicite ajustes nos documentos enviados.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Alta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709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811305"/>
                  </a:ext>
                </a:extLst>
              </a:tr>
              <a:tr h="644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RF05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E0A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0" i="0" u="none" strike="noStrike">
                          <a:effectLst/>
                          <a:latin typeface="Arial" panose="020B0604020202020204" pitchFamily="34" charset="0"/>
                        </a:rPr>
                        <a:t>Disponibilizar recurso de assinatura digital para formalização dos documentos.</a:t>
                      </a:r>
                      <a:endParaRPr lang="en-US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709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Média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709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709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709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80D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891892"/>
                  </a:ext>
                </a:extLst>
              </a:tr>
              <a:tr h="644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RF06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E0A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E0A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00D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0" i="0" u="none" strike="noStrike" dirty="0">
                          <a:effectLst/>
                          <a:latin typeface="Arial" panose="020B0604020202020204" pitchFamily="34" charset="0"/>
                        </a:rPr>
                        <a:t>Disponibilizar arquivos modelo para preenchimento pelos estudantes.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80D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00D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Baixa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80D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80D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80D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C0E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125774"/>
                  </a:ext>
                </a:extLst>
              </a:tr>
              <a:tr h="644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>
                          <a:effectLst/>
                          <a:latin typeface="Arial" panose="020B0604020202020204" pitchFamily="34" charset="0"/>
                        </a:rPr>
                        <a:t>RF07</a:t>
                      </a: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00D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00D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00D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00D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0" i="0" u="none" strike="noStrike" dirty="0">
                          <a:effectLst/>
                          <a:latin typeface="Arial" panose="020B0604020202020204" pitchFamily="34" charset="0"/>
                        </a:rPr>
                        <a:t>Informar os usuários sobre mudanças de status e prazos por meio de notificações.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00D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C0E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00D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00D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700" b="0" i="0" u="none" strike="noStrike" dirty="0" err="1">
                          <a:effectLst/>
                          <a:latin typeface="Arial" panose="020B0604020202020204" pitchFamily="34" charset="0"/>
                        </a:rPr>
                        <a:t>Média</a:t>
                      </a: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123" marR="87123" marT="43561" marB="43561">
                    <a:lnL w="8636" cap="flat" cmpd="sng" algn="ctr">
                      <a:solidFill>
                        <a:srgbClr val="C0E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C0E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C0E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C0E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8393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D6262C-E135-6884-02E8-B3633675BB4C}"/>
              </a:ext>
            </a:extLst>
          </p:cNvPr>
          <p:cNvSpPr txBox="1"/>
          <p:nvPr/>
        </p:nvSpPr>
        <p:spPr>
          <a:xfrm>
            <a:off x="636475" y="374054"/>
            <a:ext cx="609407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900" dirty="0" err="1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Requisitos</a:t>
            </a:r>
            <a:r>
              <a:rPr lang="en-US" sz="4900" dirty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 </a:t>
            </a:r>
            <a:r>
              <a:rPr lang="en-US" sz="4900" dirty="0" err="1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Funcionais</a:t>
            </a:r>
            <a:endParaRPr lang="en-US" sz="4900" dirty="0">
              <a:gradFill flip="none" rotWithShape="1">
                <a:gsLst>
                  <a:gs pos="28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  <a:tileRect/>
              </a:gra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214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4360-6467-4A2F-BE8A-C3268B5B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8D8CC9-AE50-4BA0-00C1-0D811B07A72C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pt-BR" sz="1600" b="1"/>
          </a:p>
          <a:p>
            <a:pPr>
              <a:spcAft>
                <a:spcPts val="600"/>
              </a:spcAft>
            </a:pPr>
            <a:endParaRPr lang="pt-BR" sz="16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780DA8-51BC-A0FC-687B-CF6A28446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331183"/>
              </p:ext>
            </p:extLst>
          </p:nvPr>
        </p:nvGraphicFramePr>
        <p:xfrm>
          <a:off x="1361784" y="1658738"/>
          <a:ext cx="8957155" cy="4160037"/>
        </p:xfrm>
        <a:graphic>
          <a:graphicData uri="http://schemas.openxmlformats.org/drawingml/2006/table">
            <a:tbl>
              <a:tblPr/>
              <a:tblGrid>
                <a:gridCol w="2079576">
                  <a:extLst>
                    <a:ext uri="{9D8B030D-6E8A-4147-A177-3AD203B41FA5}">
                      <a16:colId xmlns:a16="http://schemas.microsoft.com/office/drawing/2014/main" val="1701688379"/>
                    </a:ext>
                  </a:extLst>
                </a:gridCol>
                <a:gridCol w="6877579">
                  <a:extLst>
                    <a:ext uri="{9D8B030D-6E8A-4147-A177-3AD203B41FA5}">
                      <a16:colId xmlns:a16="http://schemas.microsoft.com/office/drawing/2014/main" val="3976679974"/>
                    </a:ext>
                  </a:extLst>
                </a:gridCol>
              </a:tblGrid>
              <a:tr h="868101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RNF01</a:t>
                      </a:r>
                    </a:p>
                  </a:txBody>
                  <a:tcPr anchor="ctr">
                    <a:lnL w="8636" cap="flat" cmpd="sng" algn="ctr">
                      <a:solidFill>
                        <a:srgbClr val="E09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109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E09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30A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pt-BR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 sistema deve responder rapidamente às ações do usuário, evitando lentidão no envio e consulta de dados</a:t>
                      </a:r>
                    </a:p>
                  </a:txBody>
                  <a:tcPr anchor="ctr">
                    <a:lnL w="8636" cap="flat" cmpd="sng" algn="ctr">
                      <a:solidFill>
                        <a:srgbClr val="109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60A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109A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348533"/>
                  </a:ext>
                </a:extLst>
              </a:tr>
              <a:tr h="82298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7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RNF02</a:t>
                      </a:r>
                    </a:p>
                  </a:txBody>
                  <a:tcPr anchor="ctr">
                    <a:lnL w="8636" cap="flat" cmpd="sng" algn="ctr">
                      <a:solidFill>
                        <a:srgbClr val="30A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30A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7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pt-BR" sz="17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Deve garantir acesso restrito por autenticação, protegendo informações sensíveis</a:t>
                      </a:r>
                    </a:p>
                  </a:txBody>
                  <a:tcPr anchor="ctr">
                    <a:lnL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F08E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40B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053284"/>
                  </a:ext>
                </a:extLst>
              </a:tr>
              <a:tr h="82298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RNF03</a:t>
                      </a:r>
                    </a:p>
                  </a:txBody>
                  <a:tcPr anchor="ctr">
                    <a:lnL w="8636" cap="flat" cmpd="sng" algn="ctr">
                      <a:solidFill>
                        <a:srgbClr val="7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7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pt-BR" sz="17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 navegação deve ser simples e intuitiva, com suporte a diferentes dispositivos e tamanhos de tela</a:t>
                      </a:r>
                    </a:p>
                  </a:txBody>
                  <a:tcPr anchor="ctr">
                    <a:lnL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F07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811305"/>
                  </a:ext>
                </a:extLst>
              </a:tr>
              <a:tr h="82298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RNF04</a:t>
                      </a:r>
                    </a:p>
                  </a:txBody>
                  <a:tcPr anchor="ctr">
                    <a:lnL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907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E0A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pt-BR" sz="17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Todas as ações realizadas devem ser registradas, garantindo rastreabilidade e integridade das informações</a:t>
                      </a:r>
                    </a:p>
                  </a:txBody>
                  <a:tcPr anchor="ctr">
                    <a:lnL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709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208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891892"/>
                  </a:ext>
                </a:extLst>
              </a:tr>
              <a:tr h="82298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RNF05</a:t>
                      </a:r>
                    </a:p>
                  </a:txBody>
                  <a:tcPr anchor="ctr">
                    <a:lnL w="8636" cap="flat" cmpd="sng" algn="ctr">
                      <a:solidFill>
                        <a:srgbClr val="E0A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E0A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00D6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pt-BR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 sistema deve permanecer acessível mesmo em períodos de alta demanda</a:t>
                      </a:r>
                    </a:p>
                  </a:txBody>
                  <a:tcPr anchor="ctr">
                    <a:lnL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36" cap="flat" cmpd="sng" algn="ctr">
                      <a:solidFill>
                        <a:srgbClr val="80D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36" cap="flat" cmpd="sng" algn="ctr">
                      <a:solidFill>
                        <a:srgbClr val="B0CB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36" cap="flat" cmpd="sng" algn="ctr">
                      <a:solidFill>
                        <a:srgbClr val="00DC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1257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0225CCD-E911-CF64-D2FD-EA2DAB93C42E}"/>
              </a:ext>
            </a:extLst>
          </p:cNvPr>
          <p:cNvSpPr txBox="1"/>
          <p:nvPr/>
        </p:nvSpPr>
        <p:spPr>
          <a:xfrm>
            <a:off x="636475" y="374054"/>
            <a:ext cx="6933368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900" dirty="0" err="1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Requisitos</a:t>
            </a:r>
            <a:r>
              <a:rPr lang="en-US" sz="4900" dirty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 </a:t>
            </a:r>
            <a:r>
              <a:rPr lang="en-US" sz="4900" dirty="0" err="1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Não</a:t>
            </a:r>
            <a:r>
              <a:rPr lang="en-US" sz="4900" dirty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 </a:t>
            </a:r>
            <a:r>
              <a:rPr lang="en-US" sz="4900" dirty="0" err="1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Funcionais</a:t>
            </a:r>
            <a:endParaRPr lang="en-US" sz="4900" dirty="0">
              <a:gradFill flip="none" rotWithShape="1">
                <a:gsLst>
                  <a:gs pos="28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  <a:tileRect/>
              </a:gra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885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F6F5D-3216-EF00-13CD-57FCCA0A4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61BF6E-E445-EB8E-748D-315C07410099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pt-BR" sz="1600" b="1"/>
          </a:p>
          <a:p>
            <a:pPr>
              <a:spcAft>
                <a:spcPts val="600"/>
              </a:spcAft>
            </a:pPr>
            <a:endParaRPr lang="pt-BR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B68FF-5829-91E6-C509-C87277DAFE0D}"/>
              </a:ext>
            </a:extLst>
          </p:cNvPr>
          <p:cNvSpPr txBox="1"/>
          <p:nvPr/>
        </p:nvSpPr>
        <p:spPr>
          <a:xfrm>
            <a:off x="1701347" y="2630761"/>
            <a:ext cx="51248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600" dirty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Casos de Uso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989613-775B-7F37-10F7-0977CFD9B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418" y="0"/>
            <a:ext cx="46105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1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2ECC84-F388-CFAB-A711-B9E320281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886" y="34724"/>
            <a:ext cx="9014114" cy="6788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C32188-5A78-DC71-9F3A-B5B553C068CD}"/>
              </a:ext>
            </a:extLst>
          </p:cNvPr>
          <p:cNvSpPr txBox="1"/>
          <p:nvPr/>
        </p:nvSpPr>
        <p:spPr>
          <a:xfrm>
            <a:off x="81023" y="2219923"/>
            <a:ext cx="292011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900" dirty="0" err="1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Diagrama</a:t>
            </a:r>
            <a:r>
              <a:rPr lang="en-US" sz="4900" dirty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rPr>
              <a:t> de classes</a:t>
            </a:r>
          </a:p>
        </p:txBody>
      </p:sp>
    </p:spTree>
    <p:extLst>
      <p:ext uri="{BB962C8B-B14F-4D97-AF65-F5344CB8AC3E}">
        <p14:creationId xmlns:p14="http://schemas.microsoft.com/office/powerpoint/2010/main" val="423570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9245-FFCA-0C6A-9C02-CCDD43EE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E1A6-9880-DB77-E5FD-477BE1DA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5" y="294995"/>
            <a:ext cx="7787148" cy="766889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sz="4000" dirty="0" err="1"/>
              <a:t>Prototipagem</a:t>
            </a:r>
            <a:r>
              <a:rPr lang="en-US" sz="4000" dirty="0"/>
              <a:t> Baixa </a:t>
            </a:r>
            <a:r>
              <a:rPr lang="en-US" sz="4000" dirty="0" err="1"/>
              <a:t>Fidelidade</a:t>
            </a:r>
            <a:endParaRPr lang="en-US" sz="4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8B2505-CF82-CAB8-5CC7-4AE3B4A5708C}"/>
              </a:ext>
            </a:extLst>
          </p:cNvPr>
          <p:cNvSpPr txBox="1">
            <a:spLocks/>
          </p:cNvSpPr>
          <p:nvPr/>
        </p:nvSpPr>
        <p:spPr>
          <a:xfrm>
            <a:off x="452285" y="1307718"/>
            <a:ext cx="10776154" cy="48620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endParaRPr lang="pt-BR" sz="1600" b="1" dirty="0"/>
          </a:p>
          <a:p>
            <a:endParaRPr lang="pt-BR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1C392D-A324-EB5D-3F07-CFE13971F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3" y="1061884"/>
            <a:ext cx="5154695" cy="21511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B9EF24-0398-0776-C143-1330F6E73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28" y="3644945"/>
            <a:ext cx="5154694" cy="23899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8A9775-5D57-3545-8F3D-0BB3999FD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81568"/>
            <a:ext cx="5341582" cy="3494864"/>
          </a:xfrm>
          <a:prstGeom prst="rect">
            <a:avLst/>
          </a:prstGeom>
        </p:spPr>
      </p:pic>
      <p:pic>
        <p:nvPicPr>
          <p:cNvPr id="5128" name="Picture 8" descr="trialho meme3">
            <a:extLst>
              <a:ext uri="{FF2B5EF4-FFF2-40B4-BE49-F238E27FC236}">
                <a16:creationId xmlns:a16="http://schemas.microsoft.com/office/drawing/2014/main" id="{7F45BA35-C257-8D31-BFC0-6262BF691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400" y="6756400"/>
            <a:ext cx="101600" cy="10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552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192FDC-7939-BB9B-47A0-34B56A5E3A5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alphaModFix amt="1000"/>
          </a:blip>
          <a:srcRect t="35580" b="15710"/>
          <a:stretch>
            <a:fillRect/>
          </a:stretch>
        </p:blipFill>
        <p:spPr>
          <a:xfrm>
            <a:off x="20" y="706057"/>
            <a:ext cx="12191980" cy="593868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01C582F-BFEC-CE6B-43AE-D8A73317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34" y="2608255"/>
            <a:ext cx="6386331" cy="1641490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r>
              <a:rPr lang="pt-BR" sz="9600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OBRIGADO!</a:t>
            </a:r>
            <a:endParaRPr lang="en-US" sz="9600" spc="-300" dirty="0">
              <a:gradFill flip="none" rotWithShape="1">
                <a:gsLst>
                  <a:gs pos="32000">
                    <a:schemeClr val="tx1">
                      <a:lumMod val="89000"/>
                    </a:schemeClr>
                  </a:gs>
                  <a:gs pos="0">
                    <a:schemeClr val="bg1">
                      <a:lumMod val="41000"/>
                      <a:lumOff val="59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8100000" scaled="1"/>
                <a:tileRect/>
              </a:gradFill>
              <a:effectLst>
                <a:outerShdw blurRad="469900" dist="342900" dir="5400000" sy="-20000" rotWithShape="0">
                  <a:prstClr val="black">
                    <a:alpha val="66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943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207</TotalTime>
  <Words>669</Words>
  <Application>Microsoft Office PowerPoint</Application>
  <PresentationFormat>Widescreen</PresentationFormat>
  <Paragraphs>104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Corbel</vt:lpstr>
      <vt:lpstr>Depth</vt:lpstr>
      <vt:lpstr>SISTEMA   DE   GERENCIAMENTO   DE  RELATÓRIO   DE    ESTÁGIO</vt:lpstr>
      <vt:lpstr>5w2h – 1.0 - Visão Geral</vt:lpstr>
      <vt:lpstr>5w2h – 2.0 - Visão Produto  </vt:lpstr>
      <vt:lpstr>Brainstorming </vt:lpstr>
      <vt:lpstr>Mapa 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Prototipagem Baixa Fidelidade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jacob</dc:creator>
  <cp:lastModifiedBy>Davi jacob</cp:lastModifiedBy>
  <cp:revision>2</cp:revision>
  <dcterms:created xsi:type="dcterms:W3CDTF">2026-04-16T23:31:15Z</dcterms:created>
  <dcterms:modified xsi:type="dcterms:W3CDTF">2026-04-17T03:01:39Z</dcterms:modified>
</cp:coreProperties>
</file>